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CBD5E1"/>
                </a:solidFill>
                <a:latin typeface="Arial"/>
              </a:rPr>
              <a:t>Accident Count by Severity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77F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Slight</c:v>
                  </c:pt>
                  <c:pt idx="1">
                    <c:v>Serious</c:v>
                  </c:pt>
                  <c:pt idx="2">
                    <c:v>Fatal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794174</c:v>
                </c:pt>
                <c:pt idx="1">
                  <c:v>122236</c:v>
                </c:pt>
                <c:pt idx="2">
                  <c:v>10977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B2E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B2E4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CBD5E1"/>
                </a:solidFill>
                <a:latin typeface="Arial"/>
              </a:rPr>
              <a:t>Accidents Declining Year-on-Year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Accidents</c:v>
                </c:pt>
              </c:strCache>
            </c:strRef>
          </c:tx>
          <c:spPr>
            <a:solidFill>
              <a:srgbClr val="00B4D8"/>
            </a:solidFill>
            <a:ln w="25400" cap="flat">
              <a:solidFill>
                <a:srgbClr val="00B4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2005</c:v>
                  </c:pt>
                  <c:pt idx="1">
                    <c:v>2006</c:v>
                  </c:pt>
                  <c:pt idx="2">
                    <c:v>2007</c:v>
                  </c:pt>
                  <c:pt idx="3">
                    <c:v>2008</c:v>
                  </c:pt>
                  <c:pt idx="4">
                    <c:v>2009</c:v>
                  </c:pt>
                  <c:pt idx="5">
                    <c:v>2010</c:v>
                  </c:pt>
                  <c:pt idx="6">
                    <c:v>2011</c:v>
                  </c:pt>
                  <c:pt idx="7">
                    <c:v>2012</c:v>
                  </c:pt>
                  <c:pt idx="8">
                    <c:v>2013</c:v>
                  </c:pt>
                  <c:pt idx="9">
                    <c:v>2014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128946</c:v>
                </c:pt>
                <c:pt idx="1">
                  <c:v>121325</c:v>
                </c:pt>
                <c:pt idx="2">
                  <c:v>115861</c:v>
                </c:pt>
                <c:pt idx="3">
                  <c:v>102857</c:v>
                </c:pt>
                <c:pt idx="4">
                  <c:v>99175</c:v>
                </c:pt>
                <c:pt idx="5">
                  <c:v>95518</c:v>
                </c:pt>
                <c:pt idx="6">
                  <c:v>90068</c:v>
                </c:pt>
                <c:pt idx="7">
                  <c:v>82513</c:v>
                </c:pt>
                <c:pt idx="8">
                  <c:v>91057</c:v>
                </c:pt>
                <c:pt idx="9">
                  <c:v>89000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B2E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B2E4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CBD5E1"/>
                </a:solidFill>
                <a:latin typeface="Arial"/>
              </a:rPr>
              <a:t>Urban vs Rural — Volume vs Fatal Rate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Accidents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Rural</c:v>
                  </c:pt>
                  <c:pt idx="1">
                    <c:v>Urban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285000</c:v>
                </c:pt>
                <c:pt idx="1">
                  <c:v>605000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Fatal Rate %</c:v>
                </c:pt>
              </c:strCache>
            </c:strRef>
          </c:tx>
          <c:spPr>
            <a:solidFill>
              <a:srgbClr val="F77F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Rural</c:v>
                  </c:pt>
                  <c:pt idx="1">
                    <c:v>Urban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2.1</c:v>
                </c:pt>
                <c:pt idx="1">
                  <c:v>0.9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B2E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B2E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epanshu-Nst/SectionE_G-4_UK-Road-Safety" TargetMode="External"/><Relationship Id="rId2" Type="http://schemas.openxmlformats.org/officeDocument/2006/relationships/hyperlink" Target="https://public.tableau.com/app/profile/dev.kothari/viz/UKAccidentAnalysis2_17774736712620/Dashboard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hyperlink" Target="https://public.tableau.com/app/profile/dev.kothari/viz/UKAccidentAnalysis2_17774736712620/Dashboard1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731520"/>
            <a:ext cx="5029200" cy="5029200"/>
          </a:xfrm>
          <a:prstGeom prst="ellipse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3200400"/>
            <a:ext cx="3657600" cy="3657600"/>
          </a:xfrm>
          <a:prstGeom prst="ellipse">
            <a:avLst/>
          </a:prstGeom>
          <a:solidFill>
            <a:srgbClr val="F77F00">
              <a:alpha val="12000"/>
            </a:srgbClr>
          </a:solidFill>
          <a:ln w="12700">
            <a:solidFill>
              <a:srgbClr val="F77F00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1168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&amp; ANALYTICS  |  DVA CAPSTONE 2  |  NEWTON SCHOOL OF TECHNOLOGY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502920"/>
            <a:ext cx="11612880" cy="0"/>
          </a:xfrm>
          <a:prstGeom prst="line">
            <a:avLst/>
          </a:prstGeom>
          <a:noFill/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7315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Road Safety Analysis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Trends, Risk Factors &amp; Safety Insights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3200400" cy="457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23160"/>
            <a:ext cx="2560320" cy="777240"/>
          </a:xfrm>
          <a:prstGeom prst="rect">
            <a:avLst/>
          </a:prstGeom>
          <a:solidFill>
            <a:srgbClr val="1B2E45"/>
          </a:solidFill>
          <a:ln w="6350">
            <a:solidFill>
              <a:srgbClr val="00B4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27157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83280" y="2423160"/>
            <a:ext cx="2560320" cy="777240"/>
          </a:xfrm>
          <a:prstGeom prst="rect">
            <a:avLst/>
          </a:prstGeom>
          <a:solidFill>
            <a:srgbClr val="1B2E45"/>
          </a:solidFill>
          <a:ln w="6350">
            <a:solidFill>
              <a:srgbClr val="00B4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74720" y="27157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2423160"/>
            <a:ext cx="2560320" cy="777240"/>
          </a:xfrm>
          <a:prstGeom prst="rect">
            <a:avLst/>
          </a:prstGeom>
          <a:solidFill>
            <a:srgbClr val="1B2E45"/>
          </a:solidFill>
          <a:ln w="6350">
            <a:solidFill>
              <a:srgbClr val="00B4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309360" y="27157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 Raj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52560" y="2423160"/>
            <a:ext cx="2560320" cy="777240"/>
          </a:xfrm>
          <a:prstGeom prst="rect">
            <a:avLst/>
          </a:prstGeom>
          <a:solidFill>
            <a:srgbClr val="1B2E45"/>
          </a:solidFill>
          <a:ln w="6350">
            <a:solidFill>
              <a:srgbClr val="00B4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144000" y="27157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29, 2026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4015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" y="3730752"/>
            <a:ext cx="2560320" cy="347472"/>
          </a:xfrm>
          <a:prstGeom prst="rect">
            <a:avLst/>
          </a:prstGeom>
          <a:solidFill>
            <a:srgbClr val="0D1B2A"/>
          </a:solidFill>
          <a:ln w="3810">
            <a:solidFill>
              <a:srgbClr val="CBD5E1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 Pawar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3730752"/>
            <a:ext cx="2560320" cy="347472"/>
          </a:xfrm>
          <a:prstGeom prst="rect">
            <a:avLst/>
          </a:prstGeom>
          <a:solidFill>
            <a:srgbClr val="0D1B2A"/>
          </a:solidFill>
          <a:ln w="3810">
            <a:solidFill>
              <a:srgbClr val="CBD5E1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Aaryan Krishna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3730752"/>
            <a:ext cx="2560320" cy="347472"/>
          </a:xfrm>
          <a:prstGeom prst="rect">
            <a:avLst/>
          </a:prstGeom>
          <a:solidFill>
            <a:srgbClr val="0D1B2A"/>
          </a:solidFill>
          <a:ln w="3810">
            <a:solidFill>
              <a:srgbClr val="CBD5E1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7648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Kothari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169664"/>
            <a:ext cx="2560320" cy="347472"/>
          </a:xfrm>
          <a:prstGeom prst="rect">
            <a:avLst/>
          </a:prstGeom>
          <a:solidFill>
            <a:srgbClr val="0D1B2A"/>
          </a:solidFill>
          <a:ln w="3810">
            <a:solidFill>
              <a:srgbClr val="CBD5E1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Agrawal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83280" y="4169664"/>
            <a:ext cx="2560320" cy="347472"/>
          </a:xfrm>
          <a:prstGeom prst="rect">
            <a:avLst/>
          </a:prstGeom>
          <a:solidFill>
            <a:srgbClr val="0D1B2A"/>
          </a:solidFill>
          <a:ln w="3810">
            <a:solidFill>
              <a:srgbClr val="CBD5E1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Adityaraj Pal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4169664"/>
            <a:ext cx="2560320" cy="347472"/>
          </a:xfrm>
          <a:prstGeom prst="rect">
            <a:avLst/>
          </a:prstGeom>
          <a:solidFill>
            <a:srgbClr val="0D1B2A"/>
          </a:solidFill>
          <a:ln w="3810">
            <a:solidFill>
              <a:srgbClr val="CBD5E1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Deepanshu Choudhary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47091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GitHub:</a:t>
            </a:r>
            <a:endParaRPr lang="en-US" sz="900" dirty="0"/>
          </a:p>
        </p:txBody>
      </p:sp>
      <p:sp>
        <p:nvSpPr>
          <p:cNvPr id="36" name="Text 34">
            <a:hlinkClick r:id="rId1" tooltip=""/>
          </p:cNvPr>
          <p:cNvSpPr/>
          <p:nvPr/>
        </p:nvSpPr>
        <p:spPr>
          <a:xfrm>
            <a:off x="1828800" y="47091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github.com/Deepanshu-Nst/SectionE_G-4_UK-Road-Safety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4983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Tableau:</a:t>
            </a:r>
            <a:endParaRPr lang="en-US" sz="900" dirty="0"/>
          </a:p>
        </p:txBody>
      </p:sp>
      <p:sp>
        <p:nvSpPr>
          <p:cNvPr id="38" name="Text 36">
            <a:hlinkClick r:id="rId2" tooltip=""/>
          </p:cNvPr>
          <p:cNvSpPr/>
          <p:nvPr/>
        </p:nvSpPr>
        <p:spPr>
          <a:xfrm>
            <a:off x="1828800" y="49834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public.tableau.com/app/profile/dev.kothari/viz/UKAccidentAnalysis2...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144000" y="1645920"/>
            <a:ext cx="2743200" cy="4846320"/>
          </a:xfrm>
          <a:prstGeom prst="rect">
            <a:avLst/>
          </a:prstGeom>
          <a:solidFill>
            <a:srgbClr val="1B2E45"/>
          </a:solidFill>
          <a:ln w="6350">
            <a:solidFill>
              <a:srgbClr val="00B4D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235440" y="17556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9235440" y="2148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927K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9235440" y="2715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Accidents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235440" y="32004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9235440" y="3767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Rate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235440" y="42519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13.2%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9235440" y="48188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Rate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235440" y="53035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1.34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9235440" y="58704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Casualties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UK Road Safety Needs Data-Driven Action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24128"/>
            <a:ext cx="3611880" cy="5440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24128"/>
            <a:ext cx="361188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4241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SECTOR CONTEXT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0352" y="1645920"/>
            <a:ext cx="54864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57276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&amp; Public Safety sector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0352" y="2697480"/>
            <a:ext cx="54864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62432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roads: ~1,700+ fatalities annually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0352" y="3749040"/>
            <a:ext cx="54864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67588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in economic loss each year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0352" y="4800600"/>
            <a:ext cx="54864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72744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regulations exist — yet accidents persist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51960" y="1024128"/>
            <a:ext cx="3611880" cy="5440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51960" y="1024128"/>
            <a:ext cx="3611880" cy="4572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104241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PROBLEM STATEMENT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16552" y="1645920"/>
            <a:ext cx="54864" cy="54864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157276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accident datasets exist but remain underutilized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416552" y="2697480"/>
            <a:ext cx="54864" cy="54864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262432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measures are broad &amp; generalized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16552" y="3749040"/>
            <a:ext cx="54864" cy="54864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367588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targeted visibility into WHERE &amp; WHY severe accidents occur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416552" y="4800600"/>
            <a:ext cx="54864" cy="54864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472744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zones go unidentified and unaddressed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38160" y="1024128"/>
            <a:ext cx="3611880" cy="5440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38160" y="1024128"/>
            <a:ext cx="361188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104241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OBJECTIVE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302752" y="1645920"/>
            <a:ext cx="54864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58200" y="157276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1.8M+ UK accident records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302752" y="2697480"/>
            <a:ext cx="54864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58200" y="262432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severity drivers (weather, light, location)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302752" y="3749040"/>
            <a:ext cx="54864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58200" y="367588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high-risk hotspots &amp; time patterns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302752" y="4800600"/>
            <a:ext cx="54864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58200" y="472744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interactive dashboards for decision-makers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65760" y="6355080"/>
            <a:ext cx="11430000" cy="347472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637336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DECISION-MAKERS:   Transport Authorities   ·   Urban Planners   ·   Road Safety Regulators   ·   Policy Makers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Analytical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12480" y="164592"/>
            <a:ext cx="3474720" cy="1828800"/>
          </a:xfrm>
          <a:prstGeom prst="rect">
            <a:avLst/>
          </a:prstGeom>
          <a:solidFill>
            <a:srgbClr val="1B2E45"/>
          </a:solidFill>
          <a:ln w="1016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03920" y="2560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51206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UK Road Safety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0" y="8686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~1.8M  records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03920" y="1170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columns  |  Multi-year (2005–2014)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03920" y="1463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pandas · numpy · Jupyter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395728"/>
            <a:ext cx="2011680" cy="1463040"/>
          </a:xfrm>
          <a:prstGeom prst="rect">
            <a:avLst/>
          </a:prstGeom>
          <a:solidFill>
            <a:srgbClr val="1B2E45"/>
          </a:solidFill>
          <a:ln w="635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2487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5760" y="2898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32644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Import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0" y="3090672"/>
            <a:ext cx="146304" cy="7315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22576" y="3017520"/>
            <a:ext cx="109728" cy="219456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32304" y="2395728"/>
            <a:ext cx="2011680" cy="1463040"/>
          </a:xfrm>
          <a:prstGeom prst="rect">
            <a:avLst/>
          </a:prstGeom>
          <a:solidFill>
            <a:srgbClr val="1B2E45"/>
          </a:solidFill>
          <a:ln w="635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23744" y="2487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523744" y="2898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23744" y="32644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43984" y="3090672"/>
            <a:ext cx="146304" cy="7315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3017520"/>
            <a:ext cx="109728" cy="219456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90288" y="2395728"/>
            <a:ext cx="2011680" cy="1463040"/>
          </a:xfrm>
          <a:prstGeom prst="rect">
            <a:avLst/>
          </a:prstGeom>
          <a:solidFill>
            <a:srgbClr val="1B2E45"/>
          </a:solidFill>
          <a:ln w="635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81728" y="2487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681728" y="2898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81728" y="32644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/ Month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Buckets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01968" y="3090672"/>
            <a:ext cx="146304" cy="7315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38544" y="3017520"/>
            <a:ext cx="109728" cy="219456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48272" y="2395728"/>
            <a:ext cx="2011680" cy="1463040"/>
          </a:xfrm>
          <a:prstGeom prst="rect">
            <a:avLst/>
          </a:prstGeom>
          <a:solidFill>
            <a:srgbClr val="1B2E45"/>
          </a:solidFill>
          <a:ln w="635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39712" y="2487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839712" y="2898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39712" y="32644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Stats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Computation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759952" y="3090672"/>
            <a:ext cx="146304" cy="7315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96528" y="3017520"/>
            <a:ext cx="109728" cy="219456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06256" y="2395728"/>
            <a:ext cx="2011680" cy="1463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997696" y="2487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8997696" y="2898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997696" y="32644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4114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STEPS EXECUTED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4434840"/>
            <a:ext cx="2194560" cy="320040"/>
          </a:xfrm>
          <a:prstGeom prst="rect">
            <a:avLst/>
          </a:prstGeom>
          <a:solidFill>
            <a:srgbClr val="1B2E45"/>
          </a:solidFill>
          <a:ln w="381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44714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697480" y="44714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with 'Unknown' or mode — weather, road surface, light conditions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4837176"/>
            <a:ext cx="2194560" cy="320040"/>
          </a:xfrm>
          <a:prstGeom prst="rect">
            <a:avLst/>
          </a:prstGeom>
          <a:solidFill>
            <a:srgbClr val="1B2E45"/>
          </a:solidFill>
          <a:ln w="381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" y="48737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Removal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697480" y="487375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Index + row-level check → exact duplicates removed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5239512"/>
            <a:ext cx="2194560" cy="320040"/>
          </a:xfrm>
          <a:prstGeom prst="rect">
            <a:avLst/>
          </a:prstGeom>
          <a:solidFill>
            <a:srgbClr val="1B2E45"/>
          </a:solidFill>
          <a:ln w="381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912" y="52760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Parsing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697480" y="527608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Date/Time → hour, weekday, month for temporal analysis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5641848"/>
            <a:ext cx="2194560" cy="320040"/>
          </a:xfrm>
          <a:prstGeom prst="rect">
            <a:avLst/>
          </a:prstGeom>
          <a:solidFill>
            <a:srgbClr val="1B2E45"/>
          </a:solidFill>
          <a:ln w="3810">
            <a:solidFill>
              <a:srgbClr val="00B4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8912" y="56784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697480" y="567842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buckets: AM Rush / PM Rush / Night / Late Night created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6044184"/>
            <a:ext cx="2194560" cy="320040"/>
          </a:xfrm>
          <a:prstGeom prst="rect">
            <a:avLst/>
          </a:prstGeom>
          <a:solidFill>
            <a:srgbClr val="1B2E45"/>
          </a:solidFill>
          <a:ln w="3810">
            <a:solidFill>
              <a:srgbClr val="00B4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8912" y="6080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697480" y="60807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columns, consistent category labels for Tableau filters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412480" y="2148840"/>
            <a:ext cx="3474720" cy="4480560"/>
          </a:xfrm>
          <a:prstGeom prst="rect">
            <a:avLst/>
          </a:prstGeom>
          <a:solidFill>
            <a:srgbClr val="1B2E45"/>
          </a:solidFill>
          <a:ln w="381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8549640" y="2240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549640" y="2606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Severity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549640" y="280720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/ Serious / Fatal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8549640" y="3081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of Vehicles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549640" y="32826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involved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549640" y="35570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of Casualties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8549640" y="37581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Injured + fatal victims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549640" y="40325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/ Time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549640" y="42336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to hour, month, weekday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8549640" y="4507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Condition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8549640" y="47091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Rain, fog, snow, fine...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549640" y="4983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Conditions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549640" y="51846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Daylight / Darkness type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8549640" y="5458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Type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8549640" y="56601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/ dual carriageway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8549640" y="59344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or Rural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8549640" y="613562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classification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&amp; METRICS FRAMEWORK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389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 Cards — What We Measure &amp; Why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81635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2816352" cy="3200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1556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Accidents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1444752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927,320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7472" y="1883664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Count of all records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" y="2139696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road safety burden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1078992"/>
            <a:ext cx="281635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78992"/>
            <a:ext cx="2816352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111556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Accident Count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73552" y="1444752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10,977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73552" y="1883664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Severity = Fatal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73552" y="2139696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Loss-of-life indicator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26480" y="1078992"/>
            <a:ext cx="281635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78992"/>
            <a:ext cx="2816352" cy="3200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9632" y="111556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Accident Rate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99632" y="1444752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199632" y="1883664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(Serious+Fatal) / Total × 100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99632" y="2139696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incident proportion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052560" y="1078992"/>
            <a:ext cx="281635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52560" y="1078992"/>
            <a:ext cx="2816352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1556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Casualties per Accident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125712" y="1444752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125712" y="1883664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Total Casualties / Total Accidents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125712" y="2139696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human impact per event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2587752"/>
            <a:ext cx="281635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587752"/>
            <a:ext cx="2816352" cy="3200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262432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Accident Share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7472" y="2953512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347472" y="3392424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Night Accidents / Total × 100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47472" y="3648456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Low-visibility risk period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0" y="2587752"/>
            <a:ext cx="281635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0" y="2587752"/>
            <a:ext cx="2816352" cy="3200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73552" y="262432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Risk Rate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273552" y="2953512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~22%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3273552" y="3392424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Adverse Weather Accidents / Total × 100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73552" y="3648456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 measure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26480" y="2587752"/>
            <a:ext cx="281635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26480" y="2587752"/>
            <a:ext cx="2816352" cy="3200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99632" y="262432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 Accident Rate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99632" y="2953512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~28%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6199632" y="3392424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Rush Hour Accidents / Total × 100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199632" y="3648456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Congestion-driven risk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052560" y="2587752"/>
            <a:ext cx="281635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052560" y="2587752"/>
            <a:ext cx="2816352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262432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Accident Share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125712" y="2953512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~63%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9125712" y="3392424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Urban Accidents / Total × 100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9125712" y="3648456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traffic zone risk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FROM EDA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6012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480560" y="960120"/>
          <a:ext cx="38404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8503920" y="960120"/>
            <a:ext cx="3383280" cy="5577840"/>
          </a:xfrm>
          <a:prstGeom prst="rect">
            <a:avLst/>
          </a:prstGeom>
          <a:solidFill>
            <a:srgbClr val="1B2E45"/>
          </a:solidFill>
          <a:ln w="381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641080" y="1051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SUMMARY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8595360" y="141732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794K Slight accidents dominate volume — but Serious &amp; Fatal drive REAL impact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8595360" y="222199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Year-on-year decline confirms policy progress — but risk remains persistent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8595360" y="3026664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🌧️  Rain, fog, snow → higher severity despite fewer total accidents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595360" y="3831336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Darkness (no street light): 4× higher fatal rate than daylight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8595360" y="4636008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Urban = more accidents; Rural = higher fatality rate (speed + delayed EMS)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595360" y="544068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Multi-vehicle crashes raise casualty counts — chain-collision risk (r = 0.62)</a:t>
            </a:r>
            <a:endParaRPr lang="en-US" sz="1000" dirty="0"/>
          </a:p>
        </p:txBody>
      </p:sp>
      <p:graphicFrame>
        <p:nvGraphicFramePr>
          <p:cNvPr id="15" name="Chart 2" descr=""/>
          <p:cNvGraphicFramePr/>
          <p:nvPr/>
        </p:nvGraphicFramePr>
        <p:xfrm>
          <a:off x="274320" y="4069080"/>
          <a:ext cx="80467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389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Testing &amp; Root Cause Findings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2761488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24128"/>
            <a:ext cx="2761488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4241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48132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vs Weather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58.21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  |  ✓ Significant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487168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severity varies significantly across weather conditions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27832" y="1024128"/>
            <a:ext cx="2761488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27832" y="1024128"/>
            <a:ext cx="2761488" cy="38404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04241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9272" y="148132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vs Light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9272" y="182880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74.35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19272" y="219456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  |  ✓ Significant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9272" y="2487168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conditions strongly influence accident severity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81344" y="1024128"/>
            <a:ext cx="2761488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1024128"/>
            <a:ext cx="2761488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2784" y="104241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72784" y="148132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vs Urban/Rural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72784" y="182880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112.4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72784" y="219456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  |  ✓ Significant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72784" y="2487168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type classification significantly linked to severity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134856" y="1024128"/>
            <a:ext cx="2761488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34856" y="1024128"/>
            <a:ext cx="2761488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26296" y="104241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226296" y="148132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vs Casualties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226296" y="182880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0.62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226296" y="219456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  |  ✓ Moderate +ve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226296" y="2487168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vehicles involved → higher casualties (chain collision)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4320" y="3749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DRIVERS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069080"/>
            <a:ext cx="2761488" cy="2514600"/>
          </a:xfrm>
          <a:prstGeom prst="rect">
            <a:avLst/>
          </a:prstGeom>
          <a:solidFill>
            <a:srgbClr val="1B2E45"/>
          </a:solidFill>
          <a:ln w="635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16052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🌑  Poor Visibility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5760" y="4709160"/>
            <a:ext cx="25786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Darkness (no lights): 4.03% fatal rate — highest risk condition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27832" y="4069080"/>
            <a:ext cx="2761488" cy="2514600"/>
          </a:xfrm>
          <a:prstGeom prst="rect">
            <a:avLst/>
          </a:prstGeom>
          <a:solidFill>
            <a:srgbClr val="1B2E45"/>
          </a:solidFill>
          <a:ln w="635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319272" y="416052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High-Speed Rural Roads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319272" y="4709160"/>
            <a:ext cx="25786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fatal rate 2× urban due to speed &amp; delayed EMS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81344" y="4069080"/>
            <a:ext cx="2761488" cy="2514600"/>
          </a:xfrm>
          <a:prstGeom prst="rect">
            <a:avLst/>
          </a:prstGeom>
          <a:solidFill>
            <a:srgbClr val="1B2E45"/>
          </a:solidFill>
          <a:ln w="635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72784" y="416052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🌧️  Adverse Weather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72784" y="4709160"/>
            <a:ext cx="25786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Fog, rain, snow statistically confirmed to raise severity (ANOVA)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134856" y="4069080"/>
            <a:ext cx="2761488" cy="2514600"/>
          </a:xfrm>
          <a:prstGeom prst="rect">
            <a:avLst/>
          </a:prstGeom>
          <a:solidFill>
            <a:srgbClr val="1B2E45"/>
          </a:solidFill>
          <a:ln w="635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9226296" y="416052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Multi-Vehicle Collisions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226296" y="4709160"/>
            <a:ext cx="25786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r=0.62: more vehicles = more casualties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74320" y="6492240"/>
            <a:ext cx="11612880" cy="2560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510528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 SCENARIOS:   Night + Rain → peak severity   ·   Rural + High Speed → fatal outcomes   ·   Multi-Vehicle → casualty spikes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WALKTHROUGH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Interactive Views for Decision-Makers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657600" cy="5257800"/>
          </a:xfrm>
          <a:prstGeom prst="rect">
            <a:avLst/>
          </a:prstGeom>
          <a:solidFill>
            <a:srgbClr val="1B2E45"/>
          </a:solidFill>
          <a:ln w="63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365760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326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Safety Risk Overview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7472" y="1371600"/>
            <a:ext cx="3511296" cy="2331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3767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Summary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65760" y="404164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Accidents · Fatal % · Severity Split · Fatal Rate by Speed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206240" y="914400"/>
            <a:ext cx="3657600" cy="5257800"/>
          </a:xfrm>
          <a:prstGeom prst="rect">
            <a:avLst/>
          </a:prstGeom>
          <a:solidFill>
            <a:srgbClr val="1B2E45"/>
          </a:solidFill>
          <a:ln w="63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06240" y="914400"/>
            <a:ext cx="365760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97680" y="9326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Temporal Hotspot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9392" y="1371600"/>
            <a:ext cx="3511296" cy="23317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97680" y="3767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Day Analysis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297680" y="404164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Hour/Day heatmaps · Monthly trends · Rush hour patterns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8138160" y="914400"/>
            <a:ext cx="3657600" cy="5257800"/>
          </a:xfrm>
          <a:prstGeom prst="rect">
            <a:avLst/>
          </a:prstGeom>
          <a:solidFill>
            <a:srgbClr val="1B2E45"/>
          </a:solidFill>
          <a:ln w="63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38160" y="914400"/>
            <a:ext cx="365760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229600" y="9326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Environmental Risk</a:t>
            </a:r>
            <a:endParaRPr lang="en-US" sz="1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11312" y="1371600"/>
            <a:ext cx="3511296" cy="23317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29600" y="3767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Light &amp; Geography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8229600" y="404164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conditions · Weather fatality · Geographic density map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274320" y="6263640"/>
            <a:ext cx="8046720" cy="411480"/>
          </a:xfrm>
          <a:prstGeom prst="rect">
            <a:avLst/>
          </a:prstGeom>
          <a:solidFill>
            <a:srgbClr val="1B2E45"/>
          </a:solidFill>
          <a:ln w="3810">
            <a:solidFill>
              <a:srgbClr val="00B4D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57200" y="628192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FILTERS:   📅 Year   ·   ⚠️ Severity Level   ·   🏙️ Area Type (Urban / Rural)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8503920" y="6263640"/>
            <a:ext cx="338328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1">
            <a:hlinkClick r:id="rId4" tooltip=""/>
          </p:cNvPr>
          <p:cNvSpPr/>
          <p:nvPr/>
        </p:nvSpPr>
        <p:spPr>
          <a:xfrm>
            <a:off x="8595360" y="62819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Tableau Public Dashboard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389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→ Recommendation → Expected Impact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365760" cy="347472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424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987552"/>
            <a:ext cx="2651760" cy="347472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0424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74720" y="987552"/>
            <a:ext cx="5029200" cy="347472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04241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595360" y="987552"/>
            <a:ext cx="3749040" cy="347472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41080" y="1042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417320"/>
            <a:ext cx="11612880" cy="9418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417320"/>
            <a:ext cx="365760" cy="9418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" y="1709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" y="1490472"/>
            <a:ext cx="2606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rises sharply in fog, rain &amp; snow (ANOVA F=58.21)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93008" y="1490472"/>
            <a:ext cx="4937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weather-responsive adaptive speed limits, real-time alerts &amp; dynamic signage in high-risk corridors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613648" y="1490472"/>
            <a:ext cx="3200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 reduction in severe accidents during adverse weather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414016"/>
            <a:ext cx="11612880" cy="94183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414016"/>
            <a:ext cx="365760" cy="94183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" y="2487168"/>
            <a:ext cx="2606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Darkness (no street light) has 4× higher fatal rate vs daylight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93008" y="2487168"/>
            <a:ext cx="4937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street lighting coverage, install reflective road signs &amp; enforce stricter night-time speed limits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613648" y="2487168"/>
            <a:ext cx="3200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8–12% reduction in fatal accidents; improved visibility response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410712"/>
            <a:ext cx="11612880" cy="9418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410712"/>
            <a:ext cx="365760" cy="9418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" y="3483864"/>
            <a:ext cx="2606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areas show 2× higher fatality rate due to speed &amp; delayed EMS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493008" y="3483864"/>
            <a:ext cx="4937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speed cameras in rural zones, improve emergency response infrastructure &amp; run awareness campaigns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613648" y="3483864"/>
            <a:ext cx="3200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12–18% reduction in rural fatalities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4407408"/>
            <a:ext cx="11612880" cy="94183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407408"/>
            <a:ext cx="365760" cy="9418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464" y="4700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9808" y="4480560"/>
            <a:ext cx="2606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Multi-vehicle crashes increase casualties significantly (r=0.62)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493008" y="4480560"/>
            <a:ext cx="4937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signal optimization, lane discipline enforcement &amp; real-time traffic monitoring at congestion hotspots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613648" y="4480560"/>
            <a:ext cx="3200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10–20% fewer chain-collision incidents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5404104"/>
            <a:ext cx="11612880" cy="9418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5404104"/>
            <a:ext cx="365760" cy="9418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" y="5696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49808" y="5477256"/>
            <a:ext cx="2606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risk varies by location — uniform policy is ineffective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493008" y="5477256"/>
            <a:ext cx="4937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centralized hotspot dashboard (Python + Tableau) to direct enforcement &amp; infrastructure spend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613648" y="5477256"/>
            <a:ext cx="3200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8–10% accident reduction in high-risk zones via targeted action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VALUE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 for Action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194560" cy="2286000"/>
          </a:xfrm>
          <a:prstGeom prst="rect">
            <a:avLst/>
          </a:prstGeom>
          <a:solidFill>
            <a:srgbClr val="1B2E45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1615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07568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Accident Reduction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— Weather Systems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51760" y="1051560"/>
            <a:ext cx="2194560" cy="2286000"/>
          </a:xfrm>
          <a:prstGeom prst="rect">
            <a:avLst/>
          </a:prstGeom>
          <a:solidFill>
            <a:srgbClr val="1B2E45"/>
          </a:solidFill>
          <a:ln w="1524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121615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743200" y="207568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Accident Reduction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27889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— Night Safety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0" y="1051560"/>
            <a:ext cx="2194560" cy="2286000"/>
          </a:xfrm>
          <a:prstGeom prst="rect">
            <a:avLst/>
          </a:prstGeom>
          <a:solidFill>
            <a:srgbClr val="1B2E45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20640" y="121615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120640" y="207568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Fatality Reduction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27889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— Rural Zones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406640" y="1051560"/>
            <a:ext cx="2194560" cy="2286000"/>
          </a:xfrm>
          <a:prstGeom prst="rect">
            <a:avLst/>
          </a:prstGeom>
          <a:solidFill>
            <a:srgbClr val="1B2E45"/>
          </a:solidFill>
          <a:ln w="1524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0" y="121615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498080" y="207568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Collision Reduction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0" y="27889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— Congestion Ctrl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784080" y="1051560"/>
            <a:ext cx="2194560" cy="2286000"/>
          </a:xfrm>
          <a:prstGeom prst="rect">
            <a:avLst/>
          </a:prstGeom>
          <a:solidFill>
            <a:srgbClr val="1B2E45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875520" y="121615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875520" y="207568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Zone Reduction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0" y="27889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 — Targeted Intv.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35478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VALUE DELIVERED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8862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Data-driven safety resource allocation vs. uniform spending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43891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Early hotspot identification → proactive not reactive policy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892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Reusable Python + Tableau pipeline for continuous monitoring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53949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Scalable to real-time with live data API integration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772400" y="3520440"/>
            <a:ext cx="4206240" cy="3017520"/>
          </a:xfrm>
          <a:prstGeom prst="rect">
            <a:avLst/>
          </a:prstGeom>
          <a:solidFill>
            <a:srgbClr val="1A0505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72400" y="3520440"/>
            <a:ext cx="420624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0" y="35478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COST OF INACTION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909560" y="404164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Preventable fatalities continue each year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909560" y="448056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Safety budget spent on low-impact zones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909560" y="491947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High-risk hours &amp; locations remain unmonitored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909560" y="535838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Rural communities bear disproportionate risk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909560" y="579729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Opportunity to save lives with data already available — wasted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389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Know, What We Don't, and Where We Go Next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5394960" cy="5577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87552"/>
            <a:ext cx="539496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536192"/>
            <a:ext cx="5120640" cy="658368"/>
          </a:xfrm>
          <a:prstGeom prst="rect">
            <a:avLst/>
          </a:prstGeom>
          <a:solidFill>
            <a:srgbClr val="FFF5F5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5819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Driver Behavior Data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0352" y="18379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Fatigue, distraction, alcohol influence — not captured in dataset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286000"/>
            <a:ext cx="5120640" cy="658368"/>
          </a:xfrm>
          <a:prstGeom prst="rect">
            <a:avLst/>
          </a:prstGeom>
          <a:solidFill>
            <a:srgbClr val="FFF5F5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331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Real-Time Context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0352" y="25877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historical data; no live traffic density or road conditions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035808"/>
            <a:ext cx="5120640" cy="658368"/>
          </a:xfrm>
          <a:prstGeom prst="rect">
            <a:avLst/>
          </a:prstGeom>
          <a:solidFill>
            <a:srgbClr val="FFF5F5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0815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≠ Causation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" y="3337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identified but causal mechanisms need further validation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785616"/>
            <a:ext cx="5120640" cy="658368"/>
          </a:xfrm>
          <a:prstGeom prst="rect">
            <a:avLst/>
          </a:prstGeom>
          <a:solidFill>
            <a:srgbClr val="FFF5F5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8313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Bias Possible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" y="40873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police-reported accidents; minor incidents may be excluded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4535424"/>
            <a:ext cx="5120640" cy="658368"/>
          </a:xfrm>
          <a:prstGeom prst="rect">
            <a:avLst/>
          </a:prstGeom>
          <a:solidFill>
            <a:srgbClr val="FFF5F5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45811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Categories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0352" y="48371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records contain missing or inconsistent categorical values across years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5285232"/>
            <a:ext cx="5120640" cy="658368"/>
          </a:xfrm>
          <a:prstGeom prst="rect">
            <a:avLst/>
          </a:prstGeom>
          <a:solidFill>
            <a:srgbClr val="FFF5F5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53309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Constraint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0352" y="5586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modelling and real-time traffic analysis out of scope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52160" y="987552"/>
            <a:ext cx="6035040" cy="5577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852160" y="987552"/>
            <a:ext cx="6035040" cy="43891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100584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NEXT STEPS &amp; FUTURE SCOPE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89320" y="1536192"/>
            <a:ext cx="50292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98464" y="1609344"/>
            <a:ext cx="484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8368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Model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583680" y="1810512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time-series forecasting to predict severity &amp; identify high-risk windows in advance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89320" y="2450592"/>
            <a:ext cx="502920" cy="5029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98464" y="2523744"/>
            <a:ext cx="484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83680" y="2468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583680" y="2724912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live traffic, weather &amp; IoT sensor feeds for dynamic risk monitoring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89320" y="3364992"/>
            <a:ext cx="5029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98464" y="3438144"/>
            <a:ext cx="484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583680" y="3383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Hotspot Mapping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583680" y="3639312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geospatial analysis for precise accident hotspot maps enabling location-specific interventions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989320" y="4279392"/>
            <a:ext cx="502920" cy="5029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98464" y="4352544"/>
            <a:ext cx="484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583680" y="4297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Integration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583680" y="4553712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adaptive traffic signals, automated alerts &amp; coordinated emergency response systems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989320" y="5193792"/>
            <a:ext cx="50292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98464" y="5266944"/>
            <a:ext cx="484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583680" y="5212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Simulation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583680" y="5468112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modelling to evaluate intervention impact BEFORE implementation, improving decision efficiency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0077B6">
              <a:alpha val="15000"/>
            </a:srgbClr>
          </a:solidFill>
          <a:ln w="12700">
            <a:solidFill>
              <a:srgbClr val="0077B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2743200"/>
            <a:ext cx="4572000" cy="4572000"/>
          </a:xfrm>
          <a:prstGeom prst="ellipse">
            <a:avLst/>
          </a:prstGeom>
          <a:solidFill>
            <a:srgbClr val="F77F00">
              <a:alpha val="12000"/>
            </a:srgbClr>
          </a:solidFill>
          <a:ln w="12700">
            <a:solidFill>
              <a:srgbClr val="F77F00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Safety Can Save Lives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657600" cy="457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of 927,320 UK road accident records reveals clear, actionable patterns. Environmental factors — weather, light conditions, and road type — are statistically proven severity drivers. With targeted interventions guided by this data pipeline, authorities can prevent thousands of casualties annually.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6858000" cy="566928"/>
          </a:xfrm>
          <a:prstGeom prst="rect">
            <a:avLst/>
          </a:prstGeom>
          <a:solidFill>
            <a:srgbClr val="1B2E45"/>
          </a:solidFill>
          <a:ln w="3810">
            <a:solidFill>
              <a:srgbClr val="00B4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83464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 Severity-focused policy outperforms volume-focused approaches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47288"/>
            <a:ext cx="6858000" cy="566928"/>
          </a:xfrm>
          <a:prstGeom prst="rect">
            <a:avLst/>
          </a:prstGeom>
          <a:solidFill>
            <a:srgbClr val="1B2E45"/>
          </a:solidFill>
          <a:ln w="3810">
            <a:solidFill>
              <a:srgbClr val="00B4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493008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 Statistical testing confirms environmental factors are root causes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105656"/>
            <a:ext cx="6858000" cy="566928"/>
          </a:xfrm>
          <a:prstGeom prst="rect">
            <a:avLst/>
          </a:prstGeom>
          <a:solidFill>
            <a:srgbClr val="1B2E45"/>
          </a:solidFill>
          <a:ln w="3810">
            <a:solidFill>
              <a:srgbClr val="00B4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415137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 Interactive Tableau dashboards make insights accessible to decision-makers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764024"/>
            <a:ext cx="6858000" cy="566928"/>
          </a:xfrm>
          <a:prstGeom prst="rect">
            <a:avLst/>
          </a:prstGeom>
          <a:solidFill>
            <a:srgbClr val="1B2E45"/>
          </a:solidFill>
          <a:ln w="3810">
            <a:solidFill>
              <a:srgbClr val="00B4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4809744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 Scalable to real-time ML &amp; smart city integration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46720" y="1508760"/>
            <a:ext cx="3840480" cy="4114800"/>
          </a:xfrm>
          <a:prstGeom prst="rect">
            <a:avLst/>
          </a:prstGeom>
          <a:solidFill>
            <a:srgbClr val="1B2E45"/>
          </a:solidFill>
          <a:ln w="63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83880" y="1627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18388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601200" y="20116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1.8M accident records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18388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601200" y="25603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 – 2014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18388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601200" y="3108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Tableau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83880" y="3657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601200" y="3657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· Chi-Sq · Spearman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18388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601200" y="4206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Interactive Views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601200" y="47548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Actionable Insights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E  ·  Team G-4  ·  Newton School of Technology  ·  DVA Capstone 2  ·  April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608076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 Road Safety Analysis</dc:title>
  <dc:subject>PptxGenJS Presentation</dc:subject>
  <dc:creator>Team G-4, Section E</dc:creator>
  <cp:lastModifiedBy>Team G-4, Section E</cp:lastModifiedBy>
  <cp:revision>1</cp:revision>
  <dcterms:created xsi:type="dcterms:W3CDTF">2026-04-29T18:41:14Z</dcterms:created>
  <dcterms:modified xsi:type="dcterms:W3CDTF">2026-04-29T18:41:14Z</dcterms:modified>
</cp:coreProperties>
</file>